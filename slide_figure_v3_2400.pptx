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EmbodiedMAE-4M at the best checkpoint (epoch 2280 of the completed 2400-epoch schedule). Training finished cleanly on 2026-05-28.</a:t>
            </a:r>
          </a:p>
          <a:p/>
          <a:p>
            <a:r>
              <a:t>At eval the Dirichlet allocation was driven with mask_ratio=0.40; per-modality fractions are sampled per batch.</a:t>
            </a:r>
          </a:p>
          <a:p/>
          <a:p>
            <a:r>
              <a:t>Aggregate over 15 validation plants:</a:t>
            </a:r>
          </a:p>
          <a:p>
            <a:r>
              <a:t>  • RGB MSE  : 0.6878</a:t>
            </a:r>
          </a:p>
          <a:p>
            <a:r>
              <a:t>  • Depth MSE: 0.0077</a:t>
            </a:r>
          </a:p>
          <a:p>
            <a:r>
              <a:t>  • PC Chamfer: 0.000500</a:t>
            </a:r>
          </a:p>
          <a:p>
            <a:r>
              <a:t>  • Param MAE (all)   : 0.0518</a:t>
            </a:r>
          </a:p>
          <a:p>
            <a:r>
              <a:t>  • Param MAE (masked): 0.001495</a:t>
            </a:r>
          </a:p>
          <a:p/>
          <a:p>
            <a:r>
              <a:t>Best held-out validation during training:</a:t>
            </a:r>
          </a:p>
          <a:p>
            <a:r>
              <a:t>  • val_loss          : 0.0204</a:t>
            </a:r>
          </a:p>
          <a:p>
            <a:r>
              <a:t>  • RGB MSE           : 0.6976</a:t>
            </a:r>
          </a:p>
          <a:p>
            <a:r>
              <a:t>  • Depth MSE         : 0.0071</a:t>
            </a:r>
          </a:p>
          <a:p>
            <a:r>
              <a:t>  • PC Chamfer        : 0.000308</a:t>
            </a:r>
          </a:p>
          <a:p>
            <a:r>
              <a:t>  • Param MAE (masked): 0.001025</a:t>
            </a:r>
          </a:p>
          <a:p>
            <a:r>
              <a:t>  • Param acc@0.05    : 100.0%</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v3 (wandb d0lfi27q) completed all 2400 epochs on 2026-05-28 23:01. Best val loss 0.0204 was recorded at epoch 2280, with param acc@0.05 reaching 100% — i.e. the model effectively memorised the procedural parametrisation from the other three modalities at the training mask_ratio of 0.15. PC chamfer dropped to 0.000308; depth and RGB also continued to improve through the cosine annealing tail.</a:t>
            </a:r>
          </a:p>
          <a:p/>
          <a:p>
            <a:r>
              <a:t>Note: this 2400-epoch trajectory is the H200×4 resumed run (10727040). A concurrent single-A100 duplicate (10727184) was racing on the same output directory and has been cancelled.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521440" cy="502920"/>
          </a:xfrm>
          <a:prstGeom prst="rect">
            <a:avLst/>
          </a:prstGeom>
          <a:noFill/>
        </p:spPr>
        <p:txBody>
          <a:bodyPr wrap="square">
            <a:spAutoFit/>
          </a:bodyPr>
          <a:lstStyle/>
          <a:p>
            <a:pPr algn="l"/>
            <a:r>
              <a:rPr sz="2600" b="1">
                <a:solidFill>
                  <a:srgbClr val="14285A"/>
                </a:solidFill>
              </a:rPr>
              <a:t>EmbodiedMAE-4M — Multi-modal MAE for synthetic sorghum  ·  run v3 (completed)</a:t>
            </a:r>
          </a:p>
        </p:txBody>
      </p:sp>
      <p:sp>
        <p:nvSpPr>
          <p:cNvPr id="3" name="TextBox 2"/>
          <p:cNvSpPr txBox="1"/>
          <p:nvPr/>
        </p:nvSpPr>
        <p:spPr>
          <a:xfrm>
            <a:off x="365760" y="731520"/>
            <a:ext cx="11521440" cy="365760"/>
          </a:xfrm>
          <a:prstGeom prst="rect">
            <a:avLst/>
          </a:prstGeom>
          <a:noFill/>
        </p:spPr>
        <p:txBody>
          <a:bodyPr wrap="square">
            <a:spAutoFit/>
          </a:bodyPr>
          <a:lstStyle/>
          <a:p>
            <a:pPr algn="l"/>
            <a:r>
              <a:rPr sz="1600" b="1">
                <a:solidFill>
                  <a:srgbClr val="14285A"/>
                </a:solidFill>
              </a:rPr>
              <a:t>(i)  Problem</a:t>
            </a:r>
          </a:p>
        </p:txBody>
      </p:sp>
      <p:sp>
        <p:nvSpPr>
          <p:cNvPr id="4" name="TextBox 3"/>
          <p:cNvSpPr txBox="1"/>
          <p:nvPr/>
        </p:nvSpPr>
        <p:spPr>
          <a:xfrm>
            <a:off x="548640" y="1078992"/>
            <a:ext cx="11338560" cy="868680"/>
          </a:xfrm>
          <a:prstGeom prst="rect">
            <a:avLst/>
          </a:prstGeom>
          <a:noFill/>
        </p:spPr>
        <p:txBody>
          <a:bodyPr wrap="square">
            <a:spAutoFit/>
          </a:bodyPr>
          <a:lstStyle/>
          <a:p>
            <a:pPr algn="l"/>
            <a:r>
              <a:rPr sz="1200" b="0">
                <a:solidFill>
                  <a:srgbClr val="282828"/>
                </a:solidFill>
              </a:rPr>
              <a:t>Plant phenotyping needs representations that capture geometry, appearance, and growth parameters jointly — but real-world labels for all of these together are scarce.</a:t>
            </a:r>
          </a:p>
          <a:p>
            <a:pPr algn="l"/>
            <a:r>
              <a:rPr sz="1200" b="0">
                <a:solidFill>
                  <a:srgbClr val="282828"/>
                </a:solidFill>
              </a:rPr>
              <a:t>Pre-train one encoder by masked reconstruction over synthetic sorghum, where every sample carries all four modalities aligned, so the encoder learns physically meaningful plant structure that downstream phenotyping tasks can reuse.</a:t>
            </a:r>
          </a:p>
        </p:txBody>
      </p:sp>
      <p:sp>
        <p:nvSpPr>
          <p:cNvPr id="5" name="TextBox 4"/>
          <p:cNvSpPr txBox="1"/>
          <p:nvPr/>
        </p:nvSpPr>
        <p:spPr>
          <a:xfrm>
            <a:off x="365760" y="2011680"/>
            <a:ext cx="11521440" cy="365760"/>
          </a:xfrm>
          <a:prstGeom prst="rect">
            <a:avLst/>
          </a:prstGeom>
          <a:noFill/>
        </p:spPr>
        <p:txBody>
          <a:bodyPr wrap="square">
            <a:spAutoFit/>
          </a:bodyPr>
          <a:lstStyle/>
          <a:p>
            <a:pPr algn="l"/>
            <a:r>
              <a:rPr sz="1600" b="1">
                <a:solidFill>
                  <a:srgbClr val="14285A"/>
                </a:solidFill>
              </a:rPr>
              <a:t>(ii)  Modalities</a:t>
            </a:r>
          </a:p>
        </p:txBody>
      </p:sp>
      <p:sp>
        <p:nvSpPr>
          <p:cNvPr id="6" name="TextBox 5"/>
          <p:cNvSpPr txBox="1"/>
          <p:nvPr/>
        </p:nvSpPr>
        <p:spPr>
          <a:xfrm>
            <a:off x="548640" y="2359152"/>
            <a:ext cx="11338560" cy="1188720"/>
          </a:xfrm>
          <a:prstGeom prst="rect">
            <a:avLst/>
          </a:prstGeom>
          <a:noFill/>
        </p:spPr>
        <p:txBody>
          <a:bodyPr wrap="square">
            <a:spAutoFit/>
          </a:bodyPr>
          <a:lstStyle/>
          <a:p>
            <a:pPr algn="l"/>
            <a:r>
              <a:rPr sz="1200" b="0">
                <a:solidFill>
                  <a:srgbClr val="282828"/>
                </a:solidFill>
              </a:rPr>
              <a:t>• RGB — 224×224 rendered image  →  196 patch tokens</a:t>
            </a:r>
          </a:p>
          <a:p>
            <a:pPr algn="l"/>
            <a:r>
              <a:rPr sz="1200" b="0">
                <a:solidFill>
                  <a:srgbClr val="282828"/>
                </a:solidFill>
              </a:rPr>
              <a:t>• Depth — 224×224 depth map  →  196 patch tokens (target min-max normalised)</a:t>
            </a:r>
          </a:p>
          <a:p>
            <a:pPr algn="l"/>
            <a:r>
              <a:rPr sz="1200" b="0">
                <a:solidFill>
                  <a:srgbClr val="282828"/>
                </a:solidFill>
              </a:rPr>
              <a:t>• Point Cloud — 8 196 pts, unit-sphere normalised  →  196 FPS+kNN tokens</a:t>
            </a:r>
          </a:p>
          <a:p>
            <a:pPr algn="l"/>
            <a:r>
              <a:rPr sz="1200" b="0">
                <a:solidFill>
                  <a:srgbClr val="282828"/>
                </a:solidFill>
              </a:rPr>
              <a:t>• Procedural params — 1 plant + up to 24 leaf tokens (stem length, leaf split / length / bend angle, …) normalised to [0, 1] from the generator YAML</a:t>
            </a:r>
          </a:p>
        </p:txBody>
      </p:sp>
      <p:sp>
        <p:nvSpPr>
          <p:cNvPr id="7" name="TextBox 6"/>
          <p:cNvSpPr txBox="1"/>
          <p:nvPr/>
        </p:nvSpPr>
        <p:spPr>
          <a:xfrm>
            <a:off x="365760" y="3611880"/>
            <a:ext cx="11521440" cy="365760"/>
          </a:xfrm>
          <a:prstGeom prst="rect">
            <a:avLst/>
          </a:prstGeom>
          <a:noFill/>
        </p:spPr>
        <p:txBody>
          <a:bodyPr wrap="square">
            <a:spAutoFit/>
          </a:bodyPr>
          <a:lstStyle/>
          <a:p>
            <a:pPr algn="l"/>
            <a:r>
              <a:rPr sz="1600" b="1">
                <a:solidFill>
                  <a:srgbClr val="14285A"/>
                </a:solidFill>
              </a:rPr>
              <a:t>(iii)  Architecture — high level</a:t>
            </a:r>
          </a:p>
        </p:txBody>
      </p:sp>
      <p:pic>
        <p:nvPicPr>
          <p:cNvPr id="8" name="Picture 7" descr="arch_diagram.png"/>
          <p:cNvPicPr>
            <a:picLocks noChangeAspect="1"/>
          </p:cNvPicPr>
          <p:nvPr/>
        </p:nvPicPr>
        <p:blipFill>
          <a:blip r:embed="rId2"/>
          <a:stretch>
            <a:fillRect/>
          </a:stretch>
        </p:blipFill>
        <p:spPr>
          <a:xfrm>
            <a:off x="2965704" y="3977639"/>
            <a:ext cx="6321552" cy="2788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30000" cy="502920"/>
          </a:xfrm>
          <a:prstGeom prst="rect">
            <a:avLst/>
          </a:prstGeom>
          <a:noFill/>
        </p:spPr>
        <p:txBody>
          <a:bodyPr wrap="square">
            <a:spAutoFit/>
          </a:bodyPr>
          <a:lstStyle/>
          <a:p>
            <a:pPr algn="l"/>
            <a:r>
              <a:rPr sz="2200" b="1">
                <a:solidFill>
                  <a:srgbClr val="14285A"/>
                </a:solidFill>
              </a:rPr>
              <a:t>Reconstructions across 15 validation plants — best epoch 2280</a:t>
            </a:r>
          </a:p>
        </p:txBody>
      </p:sp>
      <p:pic>
        <p:nvPicPr>
          <p:cNvPr id="3" name="Picture 2" descr="slide_figure_v3_2400.png"/>
          <p:cNvPicPr>
            <a:picLocks noChangeAspect="1"/>
          </p:cNvPicPr>
          <p:nvPr/>
        </p:nvPicPr>
        <p:blipFill>
          <a:blip r:embed="rId2"/>
          <a:stretch>
            <a:fillRect/>
          </a:stretch>
        </p:blipFill>
        <p:spPr>
          <a:xfrm>
            <a:off x="371626" y="640080"/>
            <a:ext cx="11418267" cy="612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502920"/>
          </a:xfrm>
          <a:prstGeom prst="rect">
            <a:avLst/>
          </a:prstGeom>
          <a:noFill/>
        </p:spPr>
        <p:txBody>
          <a:bodyPr wrap="square">
            <a:spAutoFit/>
          </a:bodyPr>
          <a:lstStyle/>
          <a:p>
            <a:pPr algn="l"/>
            <a:r>
              <a:rPr sz="2400" b="1">
                <a:solidFill>
                  <a:srgbClr val="14285A"/>
                </a:solidFill>
              </a:rPr>
              <a:t>Training metrics — run v3 (epochs 1 – 2400, completed)</a:t>
            </a:r>
          </a:p>
        </p:txBody>
      </p:sp>
      <p:pic>
        <p:nvPicPr>
          <p:cNvPr id="3" name="Picture 2" descr="loss_curves_2400.png"/>
          <p:cNvPicPr>
            <a:picLocks noChangeAspect="1"/>
          </p:cNvPicPr>
          <p:nvPr/>
        </p:nvPicPr>
        <p:blipFill>
          <a:blip r:embed="rId2"/>
          <a:stretch>
            <a:fillRect/>
          </a:stretch>
        </p:blipFill>
        <p:spPr>
          <a:xfrm>
            <a:off x="182880" y="1616522"/>
            <a:ext cx="7315200" cy="4173595"/>
          </a:xfrm>
          <a:prstGeom prst="rect">
            <a:avLst/>
          </a:prstGeom>
        </p:spPr>
      </p:pic>
      <p:sp>
        <p:nvSpPr>
          <p:cNvPr id="4" name="TextBox 3"/>
          <p:cNvSpPr txBox="1"/>
          <p:nvPr/>
        </p:nvSpPr>
        <p:spPr>
          <a:xfrm>
            <a:off x="7772400" y="777240"/>
            <a:ext cx="4206240" cy="411480"/>
          </a:xfrm>
          <a:prstGeom prst="rect">
            <a:avLst/>
          </a:prstGeom>
          <a:noFill/>
        </p:spPr>
        <p:txBody>
          <a:bodyPr wrap="square">
            <a:spAutoFit/>
          </a:bodyPr>
          <a:lstStyle/>
          <a:p>
            <a:pPr algn="l"/>
            <a:r>
              <a:rPr sz="1400" b="1">
                <a:solidFill>
                  <a:srgbClr val="14285A"/>
                </a:solidFill>
              </a:rPr>
              <a:t>Best @ epoch 2280   ·   Final @ epoch 2400</a:t>
            </a:r>
          </a:p>
        </p:txBody>
      </p:sp>
      <p:sp>
        <p:nvSpPr>
          <p:cNvPr id="5" name="TextBox 4"/>
          <p:cNvSpPr txBox="1"/>
          <p:nvPr/>
        </p:nvSpPr>
        <p:spPr>
          <a:xfrm>
            <a:off x="7772400" y="1280160"/>
            <a:ext cx="2651760" cy="274320"/>
          </a:xfrm>
          <a:prstGeom prst="rect">
            <a:avLst/>
          </a:prstGeom>
          <a:noFill/>
        </p:spPr>
        <p:txBody>
          <a:bodyPr wrap="square">
            <a:spAutoFit/>
          </a:bodyPr>
          <a:lstStyle/>
          <a:p>
            <a:pPr algn="l"/>
            <a:r>
              <a:rPr sz="1100" b="0">
                <a:solidFill>
                  <a:srgbClr val="3C3C3C"/>
                </a:solidFill>
                <a:latin typeface="Consolas"/>
              </a:rPr>
              <a:t>Metric</a:t>
            </a:r>
          </a:p>
        </p:txBody>
      </p:sp>
      <p:sp>
        <p:nvSpPr>
          <p:cNvPr id="6" name="TextBox 5"/>
          <p:cNvSpPr txBox="1"/>
          <p:nvPr/>
        </p:nvSpPr>
        <p:spPr>
          <a:xfrm>
            <a:off x="10424160" y="1280160"/>
            <a:ext cx="1554480" cy="274320"/>
          </a:xfrm>
          <a:prstGeom prst="rect">
            <a:avLst/>
          </a:prstGeom>
          <a:noFill/>
        </p:spPr>
        <p:txBody>
          <a:bodyPr wrap="square">
            <a:spAutoFit/>
          </a:bodyPr>
          <a:lstStyle/>
          <a:p>
            <a:pPr algn="l"/>
            <a:r>
              <a:rPr sz="1100" b="1">
                <a:solidFill>
                  <a:srgbClr val="14285A"/>
                </a:solidFill>
                <a:latin typeface="Consolas"/>
              </a:rPr>
              <a:t>Best        Final</a:t>
            </a:r>
          </a:p>
        </p:txBody>
      </p:sp>
      <p:sp>
        <p:nvSpPr>
          <p:cNvPr id="7" name="TextBox 6"/>
          <p:cNvSpPr txBox="1"/>
          <p:nvPr/>
        </p:nvSpPr>
        <p:spPr>
          <a:xfrm>
            <a:off x="7772400" y="1554480"/>
            <a:ext cx="2651760" cy="274320"/>
          </a:xfrm>
          <a:prstGeom prst="rect">
            <a:avLst/>
          </a:prstGeom>
          <a:noFill/>
        </p:spPr>
        <p:txBody>
          <a:bodyPr wrap="square">
            <a:spAutoFit/>
          </a:bodyPr>
          <a:lstStyle/>
          <a:p>
            <a:pPr algn="l"/>
            <a:r>
              <a:rPr sz="1100" b="0">
                <a:solidFill>
                  <a:srgbClr val="3C3C3C"/>
                </a:solidFill>
                <a:latin typeface="Consolas"/>
              </a:rPr>
              <a:t>val_loss (weighted total)</a:t>
            </a:r>
          </a:p>
        </p:txBody>
      </p:sp>
      <p:sp>
        <p:nvSpPr>
          <p:cNvPr id="8" name="TextBox 7"/>
          <p:cNvSpPr txBox="1"/>
          <p:nvPr/>
        </p:nvSpPr>
        <p:spPr>
          <a:xfrm>
            <a:off x="10424160" y="1554480"/>
            <a:ext cx="1554480" cy="274320"/>
          </a:xfrm>
          <a:prstGeom prst="rect">
            <a:avLst/>
          </a:prstGeom>
          <a:noFill/>
        </p:spPr>
        <p:txBody>
          <a:bodyPr wrap="square">
            <a:spAutoFit/>
          </a:bodyPr>
          <a:lstStyle/>
          <a:p>
            <a:pPr algn="l"/>
            <a:r>
              <a:rPr sz="1100" b="1">
                <a:solidFill>
                  <a:srgbClr val="14285A"/>
                </a:solidFill>
                <a:latin typeface="Consolas"/>
              </a:rPr>
              <a:t>0.0204      0.0210</a:t>
            </a:r>
          </a:p>
        </p:txBody>
      </p:sp>
      <p:sp>
        <p:nvSpPr>
          <p:cNvPr id="9" name="TextBox 8"/>
          <p:cNvSpPr txBox="1"/>
          <p:nvPr/>
        </p:nvSpPr>
        <p:spPr>
          <a:xfrm>
            <a:off x="7772400" y="1828800"/>
            <a:ext cx="2651760" cy="274320"/>
          </a:xfrm>
          <a:prstGeom prst="rect">
            <a:avLst/>
          </a:prstGeom>
          <a:noFill/>
        </p:spPr>
        <p:txBody>
          <a:bodyPr wrap="square">
            <a:spAutoFit/>
          </a:bodyPr>
          <a:lstStyle/>
          <a:p>
            <a:pPr algn="l"/>
            <a:r>
              <a:rPr sz="1100" b="0">
                <a:solidFill>
                  <a:srgbClr val="3C3C3C"/>
                </a:solidFill>
                <a:latin typeface="Consolas"/>
              </a:rPr>
              <a:t>val_rgb (× per-patch MSE)</a:t>
            </a:r>
          </a:p>
        </p:txBody>
      </p:sp>
      <p:sp>
        <p:nvSpPr>
          <p:cNvPr id="10" name="TextBox 9"/>
          <p:cNvSpPr txBox="1"/>
          <p:nvPr/>
        </p:nvSpPr>
        <p:spPr>
          <a:xfrm>
            <a:off x="10424160" y="1828800"/>
            <a:ext cx="1554480" cy="274320"/>
          </a:xfrm>
          <a:prstGeom prst="rect">
            <a:avLst/>
          </a:prstGeom>
          <a:noFill/>
        </p:spPr>
        <p:txBody>
          <a:bodyPr wrap="square">
            <a:spAutoFit/>
          </a:bodyPr>
          <a:lstStyle/>
          <a:p>
            <a:pPr algn="l"/>
            <a:r>
              <a:rPr sz="1100" b="1">
                <a:solidFill>
                  <a:srgbClr val="14285A"/>
                </a:solidFill>
                <a:latin typeface="Consolas"/>
              </a:rPr>
              <a:t>0.0127      0.0133</a:t>
            </a:r>
          </a:p>
        </p:txBody>
      </p:sp>
      <p:sp>
        <p:nvSpPr>
          <p:cNvPr id="11" name="TextBox 10"/>
          <p:cNvSpPr txBox="1"/>
          <p:nvPr/>
        </p:nvSpPr>
        <p:spPr>
          <a:xfrm>
            <a:off x="7772400" y="2103120"/>
            <a:ext cx="2651760" cy="274320"/>
          </a:xfrm>
          <a:prstGeom prst="rect">
            <a:avLst/>
          </a:prstGeom>
          <a:noFill/>
        </p:spPr>
        <p:txBody>
          <a:bodyPr wrap="square">
            <a:spAutoFit/>
          </a:bodyPr>
          <a:lstStyle/>
          <a:p>
            <a:pPr algn="l"/>
            <a:r>
              <a:rPr sz="1100" b="0">
                <a:solidFill>
                  <a:srgbClr val="3C3C3C"/>
                </a:solidFill>
                <a:latin typeface="Consolas"/>
              </a:rPr>
              <a:t>val_depth (× per-patch MSE)</a:t>
            </a:r>
          </a:p>
        </p:txBody>
      </p:sp>
      <p:sp>
        <p:nvSpPr>
          <p:cNvPr id="12" name="TextBox 11"/>
          <p:cNvSpPr txBox="1"/>
          <p:nvPr/>
        </p:nvSpPr>
        <p:spPr>
          <a:xfrm>
            <a:off x="10424160" y="2103120"/>
            <a:ext cx="1554480" cy="274320"/>
          </a:xfrm>
          <a:prstGeom prst="rect">
            <a:avLst/>
          </a:prstGeom>
          <a:noFill/>
        </p:spPr>
        <p:txBody>
          <a:bodyPr wrap="square">
            <a:spAutoFit/>
          </a:bodyPr>
          <a:lstStyle/>
          <a:p>
            <a:pPr algn="l"/>
            <a:r>
              <a:rPr sz="1100" b="1">
                <a:solidFill>
                  <a:srgbClr val="14285A"/>
                </a:solidFill>
                <a:latin typeface="Consolas"/>
              </a:rPr>
              <a:t>0.0046      0.0046</a:t>
            </a:r>
          </a:p>
        </p:txBody>
      </p:sp>
      <p:sp>
        <p:nvSpPr>
          <p:cNvPr id="13" name="TextBox 12"/>
          <p:cNvSpPr txBox="1"/>
          <p:nvPr/>
        </p:nvSpPr>
        <p:spPr>
          <a:xfrm>
            <a:off x="7772400" y="2377440"/>
            <a:ext cx="2651760" cy="274320"/>
          </a:xfrm>
          <a:prstGeom prst="rect">
            <a:avLst/>
          </a:prstGeom>
          <a:noFill/>
        </p:spPr>
        <p:txBody>
          <a:bodyPr wrap="square">
            <a:spAutoFit/>
          </a:bodyPr>
          <a:lstStyle/>
          <a:p>
            <a:pPr algn="l"/>
            <a:r>
              <a:rPr sz="1100" b="0">
                <a:solidFill>
                  <a:srgbClr val="3C3C3C"/>
                </a:solidFill>
                <a:latin typeface="Consolas"/>
              </a:rPr>
              <a:t>val_pc (× pc_loss_weight=10)</a:t>
            </a:r>
          </a:p>
        </p:txBody>
      </p:sp>
      <p:sp>
        <p:nvSpPr>
          <p:cNvPr id="14" name="TextBox 13"/>
          <p:cNvSpPr txBox="1"/>
          <p:nvPr/>
        </p:nvSpPr>
        <p:spPr>
          <a:xfrm>
            <a:off x="10424160" y="2377440"/>
            <a:ext cx="1554480" cy="274320"/>
          </a:xfrm>
          <a:prstGeom prst="rect">
            <a:avLst/>
          </a:prstGeom>
          <a:noFill/>
        </p:spPr>
        <p:txBody>
          <a:bodyPr wrap="square">
            <a:spAutoFit/>
          </a:bodyPr>
          <a:lstStyle/>
          <a:p>
            <a:pPr algn="l"/>
            <a:r>
              <a:rPr sz="1100" b="1">
                <a:solidFill>
                  <a:srgbClr val="14285A"/>
                </a:solidFill>
                <a:latin typeface="Consolas"/>
              </a:rPr>
              <a:t>0.0003      0.0003</a:t>
            </a:r>
          </a:p>
        </p:txBody>
      </p:sp>
      <p:sp>
        <p:nvSpPr>
          <p:cNvPr id="15" name="TextBox 14"/>
          <p:cNvSpPr txBox="1"/>
          <p:nvPr/>
        </p:nvSpPr>
        <p:spPr>
          <a:xfrm>
            <a:off x="7772400" y="2651760"/>
            <a:ext cx="2651760" cy="274320"/>
          </a:xfrm>
          <a:prstGeom prst="rect">
            <a:avLst/>
          </a:prstGeom>
          <a:noFill/>
        </p:spPr>
        <p:txBody>
          <a:bodyPr wrap="square">
            <a:spAutoFit/>
          </a:bodyPr>
          <a:lstStyle/>
          <a:p>
            <a:pPr algn="l"/>
            <a:r>
              <a:rPr sz="1100" b="0">
                <a:solidFill>
                  <a:srgbClr val="3C3C3C"/>
                </a:solidFill>
                <a:latin typeface="Consolas"/>
              </a:rPr>
              <a:t>val_text (× spline_w=5)</a:t>
            </a:r>
          </a:p>
        </p:txBody>
      </p:sp>
      <p:sp>
        <p:nvSpPr>
          <p:cNvPr id="16" name="TextBox 15"/>
          <p:cNvSpPr txBox="1"/>
          <p:nvPr/>
        </p:nvSpPr>
        <p:spPr>
          <a:xfrm>
            <a:off x="10424160" y="2651760"/>
            <a:ext cx="1554480" cy="274320"/>
          </a:xfrm>
          <a:prstGeom prst="rect">
            <a:avLst/>
          </a:prstGeom>
          <a:noFill/>
        </p:spPr>
        <p:txBody>
          <a:bodyPr wrap="square">
            <a:spAutoFit/>
          </a:bodyPr>
          <a:lstStyle/>
          <a:p>
            <a:pPr algn="l"/>
            <a:r>
              <a:rPr sz="1100" b="1">
                <a:solidFill>
                  <a:srgbClr val="14285A"/>
                </a:solidFill>
                <a:latin typeface="Consolas"/>
              </a:rPr>
              <a:t>0.0000      0.0000</a:t>
            </a:r>
          </a:p>
        </p:txBody>
      </p:sp>
      <p:sp>
        <p:nvSpPr>
          <p:cNvPr id="17" name="TextBox 16"/>
          <p:cNvSpPr txBox="1"/>
          <p:nvPr/>
        </p:nvSpPr>
        <p:spPr>
          <a:xfrm>
            <a:off x="7772400" y="2926080"/>
            <a:ext cx="2651760" cy="274320"/>
          </a:xfrm>
          <a:prstGeom prst="rect">
            <a:avLst/>
          </a:prstGeom>
          <a:noFill/>
        </p:spPr>
        <p:txBody>
          <a:bodyPr wrap="square">
            <a:spAutoFit/>
          </a:bodyPr>
          <a:lstStyle/>
          <a:p>
            <a:pPr algn="l"/>
            <a:r>
              <a:rPr sz="1100" b="0">
                <a:solidFill>
                  <a:srgbClr val="3C3C3C"/>
                </a:solidFill>
                <a:latin typeface="Consolas"/>
              </a:rPr>
              <a:t>—</a:t>
            </a:r>
          </a:p>
        </p:txBody>
      </p:sp>
      <p:sp>
        <p:nvSpPr>
          <p:cNvPr id="18" name="TextBox 17"/>
          <p:cNvSpPr txBox="1"/>
          <p:nvPr/>
        </p:nvSpPr>
        <p:spPr>
          <a:xfrm>
            <a:off x="10424160" y="2926080"/>
            <a:ext cx="1554480" cy="274320"/>
          </a:xfrm>
          <a:prstGeom prst="rect">
            <a:avLst/>
          </a:prstGeom>
          <a:noFill/>
        </p:spPr>
        <p:txBody>
          <a:bodyPr wrap="square">
            <a:spAutoFit/>
          </a:bodyPr>
          <a:lstStyle/>
          <a:p>
            <a:pPr algn="l"/>
            <a:r>
              <a:rPr sz="1100" b="1">
                <a:solidFill>
                  <a:srgbClr val="14285A"/>
                </a:solidFill>
                <a:latin typeface="Consolas"/>
              </a:rPr>
              <a:t>—</a:t>
            </a:r>
          </a:p>
        </p:txBody>
      </p:sp>
      <p:sp>
        <p:nvSpPr>
          <p:cNvPr id="19" name="TextBox 18"/>
          <p:cNvSpPr txBox="1"/>
          <p:nvPr/>
        </p:nvSpPr>
        <p:spPr>
          <a:xfrm>
            <a:off x="7772400" y="3200400"/>
            <a:ext cx="2651760" cy="274320"/>
          </a:xfrm>
          <a:prstGeom prst="rect">
            <a:avLst/>
          </a:prstGeom>
          <a:noFill/>
        </p:spPr>
        <p:txBody>
          <a:bodyPr wrap="square">
            <a:spAutoFit/>
          </a:bodyPr>
          <a:lstStyle/>
          <a:p>
            <a:pPr algn="l"/>
            <a:r>
              <a:rPr sz="1100" b="0">
                <a:solidFill>
                  <a:srgbClr val="3C3C3C"/>
                </a:solidFill>
                <a:latin typeface="Consolas"/>
              </a:rPr>
              <a:t>RGB MSE  (unweighted)</a:t>
            </a:r>
          </a:p>
        </p:txBody>
      </p:sp>
      <p:sp>
        <p:nvSpPr>
          <p:cNvPr id="20" name="TextBox 19"/>
          <p:cNvSpPr txBox="1"/>
          <p:nvPr/>
        </p:nvSpPr>
        <p:spPr>
          <a:xfrm>
            <a:off x="10424160" y="3200400"/>
            <a:ext cx="1554480" cy="274320"/>
          </a:xfrm>
          <a:prstGeom prst="rect">
            <a:avLst/>
          </a:prstGeom>
          <a:noFill/>
        </p:spPr>
        <p:txBody>
          <a:bodyPr wrap="square">
            <a:spAutoFit/>
          </a:bodyPr>
          <a:lstStyle/>
          <a:p>
            <a:pPr algn="l"/>
            <a:r>
              <a:rPr sz="1100" b="1">
                <a:solidFill>
                  <a:srgbClr val="14285A"/>
                </a:solidFill>
                <a:latin typeface="Consolas"/>
              </a:rPr>
              <a:t>0.6976      0.6977</a:t>
            </a:r>
          </a:p>
        </p:txBody>
      </p:sp>
      <p:sp>
        <p:nvSpPr>
          <p:cNvPr id="21" name="TextBox 20"/>
          <p:cNvSpPr txBox="1"/>
          <p:nvPr/>
        </p:nvSpPr>
        <p:spPr>
          <a:xfrm>
            <a:off x="7772400" y="3474720"/>
            <a:ext cx="2651760" cy="274320"/>
          </a:xfrm>
          <a:prstGeom prst="rect">
            <a:avLst/>
          </a:prstGeom>
          <a:noFill/>
        </p:spPr>
        <p:txBody>
          <a:bodyPr wrap="square">
            <a:spAutoFit/>
          </a:bodyPr>
          <a:lstStyle/>
          <a:p>
            <a:pPr algn="l"/>
            <a:r>
              <a:rPr sz="1100" b="0">
                <a:solidFill>
                  <a:srgbClr val="3C3C3C"/>
                </a:solidFill>
                <a:latin typeface="Consolas"/>
              </a:rPr>
              <a:t>Depth MSE (on minmax target)</a:t>
            </a:r>
          </a:p>
        </p:txBody>
      </p:sp>
      <p:sp>
        <p:nvSpPr>
          <p:cNvPr id="22" name="TextBox 21"/>
          <p:cNvSpPr txBox="1"/>
          <p:nvPr/>
        </p:nvSpPr>
        <p:spPr>
          <a:xfrm>
            <a:off x="10424160" y="3474720"/>
            <a:ext cx="1554480" cy="274320"/>
          </a:xfrm>
          <a:prstGeom prst="rect">
            <a:avLst/>
          </a:prstGeom>
          <a:noFill/>
        </p:spPr>
        <p:txBody>
          <a:bodyPr wrap="square">
            <a:spAutoFit/>
          </a:bodyPr>
          <a:lstStyle/>
          <a:p>
            <a:pPr algn="l"/>
            <a:r>
              <a:rPr sz="1100" b="1">
                <a:solidFill>
                  <a:srgbClr val="14285A"/>
                </a:solidFill>
                <a:latin typeface="Consolas"/>
              </a:rPr>
              <a:t>0.0071      0.0070</a:t>
            </a:r>
          </a:p>
        </p:txBody>
      </p:sp>
      <p:sp>
        <p:nvSpPr>
          <p:cNvPr id="23" name="TextBox 22"/>
          <p:cNvSpPr txBox="1"/>
          <p:nvPr/>
        </p:nvSpPr>
        <p:spPr>
          <a:xfrm>
            <a:off x="7772400" y="3749040"/>
            <a:ext cx="2651760" cy="274320"/>
          </a:xfrm>
          <a:prstGeom prst="rect">
            <a:avLst/>
          </a:prstGeom>
          <a:noFill/>
        </p:spPr>
        <p:txBody>
          <a:bodyPr wrap="square">
            <a:spAutoFit/>
          </a:bodyPr>
          <a:lstStyle/>
          <a:p>
            <a:pPr algn="l"/>
            <a:r>
              <a:rPr sz="1100" b="0">
                <a:solidFill>
                  <a:srgbClr val="3C3C3C"/>
                </a:solidFill>
                <a:latin typeface="Consolas"/>
              </a:rPr>
              <a:t>PC Chamfer (bidirectional)</a:t>
            </a:r>
          </a:p>
        </p:txBody>
      </p:sp>
      <p:sp>
        <p:nvSpPr>
          <p:cNvPr id="24" name="TextBox 23"/>
          <p:cNvSpPr txBox="1"/>
          <p:nvPr/>
        </p:nvSpPr>
        <p:spPr>
          <a:xfrm>
            <a:off x="10424160" y="3749040"/>
            <a:ext cx="1554480" cy="274320"/>
          </a:xfrm>
          <a:prstGeom prst="rect">
            <a:avLst/>
          </a:prstGeom>
          <a:noFill/>
        </p:spPr>
        <p:txBody>
          <a:bodyPr wrap="square">
            <a:spAutoFit/>
          </a:bodyPr>
          <a:lstStyle/>
          <a:p>
            <a:pPr algn="l"/>
            <a:r>
              <a:rPr sz="1100" b="1">
                <a:solidFill>
                  <a:srgbClr val="14285A"/>
                </a:solidFill>
                <a:latin typeface="Consolas"/>
              </a:rPr>
              <a:t>0.000308  0.000299</a:t>
            </a:r>
          </a:p>
        </p:txBody>
      </p:sp>
      <p:sp>
        <p:nvSpPr>
          <p:cNvPr id="25" name="TextBox 24"/>
          <p:cNvSpPr txBox="1"/>
          <p:nvPr/>
        </p:nvSpPr>
        <p:spPr>
          <a:xfrm>
            <a:off x="7772400" y="4023360"/>
            <a:ext cx="2651760" cy="274320"/>
          </a:xfrm>
          <a:prstGeom prst="rect">
            <a:avLst/>
          </a:prstGeom>
          <a:noFill/>
        </p:spPr>
        <p:txBody>
          <a:bodyPr wrap="square">
            <a:spAutoFit/>
          </a:bodyPr>
          <a:lstStyle/>
          <a:p>
            <a:pPr algn="l"/>
            <a:r>
              <a:rPr sz="1100" b="0">
                <a:solidFill>
                  <a:srgbClr val="3C3C3C"/>
                </a:solidFill>
                <a:latin typeface="Consolas"/>
              </a:rPr>
              <a:t>Param MSE</a:t>
            </a:r>
          </a:p>
        </p:txBody>
      </p:sp>
      <p:sp>
        <p:nvSpPr>
          <p:cNvPr id="26" name="TextBox 25"/>
          <p:cNvSpPr txBox="1"/>
          <p:nvPr/>
        </p:nvSpPr>
        <p:spPr>
          <a:xfrm>
            <a:off x="10424160" y="4023360"/>
            <a:ext cx="1554480" cy="274320"/>
          </a:xfrm>
          <a:prstGeom prst="rect">
            <a:avLst/>
          </a:prstGeom>
          <a:noFill/>
        </p:spPr>
        <p:txBody>
          <a:bodyPr wrap="square">
            <a:spAutoFit/>
          </a:bodyPr>
          <a:lstStyle/>
          <a:p>
            <a:pPr algn="l"/>
            <a:r>
              <a:rPr sz="1100" b="1">
                <a:solidFill>
                  <a:srgbClr val="14285A"/>
                </a:solidFill>
                <a:latin typeface="Consolas"/>
              </a:rPr>
              <a:t>0.0168      0.0165</a:t>
            </a:r>
          </a:p>
        </p:txBody>
      </p:sp>
      <p:sp>
        <p:nvSpPr>
          <p:cNvPr id="27" name="TextBox 26"/>
          <p:cNvSpPr txBox="1"/>
          <p:nvPr/>
        </p:nvSpPr>
        <p:spPr>
          <a:xfrm>
            <a:off x="7772400" y="4297680"/>
            <a:ext cx="2651760" cy="274320"/>
          </a:xfrm>
          <a:prstGeom prst="rect">
            <a:avLst/>
          </a:prstGeom>
          <a:noFill/>
        </p:spPr>
        <p:txBody>
          <a:bodyPr wrap="square">
            <a:spAutoFit/>
          </a:bodyPr>
          <a:lstStyle/>
          <a:p>
            <a:pPr algn="l"/>
            <a:r>
              <a:rPr sz="1100" b="0">
                <a:solidFill>
                  <a:srgbClr val="3C3C3C"/>
                </a:solidFill>
                <a:latin typeface="Consolas"/>
              </a:rPr>
              <a:t>Param MAE (all leaves)</a:t>
            </a:r>
          </a:p>
        </p:txBody>
      </p:sp>
      <p:sp>
        <p:nvSpPr>
          <p:cNvPr id="28" name="TextBox 27"/>
          <p:cNvSpPr txBox="1"/>
          <p:nvPr/>
        </p:nvSpPr>
        <p:spPr>
          <a:xfrm>
            <a:off x="10424160" y="4297680"/>
            <a:ext cx="1554480" cy="274320"/>
          </a:xfrm>
          <a:prstGeom prst="rect">
            <a:avLst/>
          </a:prstGeom>
          <a:noFill/>
        </p:spPr>
        <p:txBody>
          <a:bodyPr wrap="square">
            <a:spAutoFit/>
          </a:bodyPr>
          <a:lstStyle/>
          <a:p>
            <a:pPr algn="l"/>
            <a:r>
              <a:rPr sz="1100" b="1">
                <a:solidFill>
                  <a:srgbClr val="14285A"/>
                </a:solidFill>
                <a:latin typeface="Consolas"/>
              </a:rPr>
              <a:t>0.0568      0.0546</a:t>
            </a:r>
          </a:p>
        </p:txBody>
      </p:sp>
      <p:sp>
        <p:nvSpPr>
          <p:cNvPr id="29" name="TextBox 28"/>
          <p:cNvSpPr txBox="1"/>
          <p:nvPr/>
        </p:nvSpPr>
        <p:spPr>
          <a:xfrm>
            <a:off x="7772400" y="4572000"/>
            <a:ext cx="2651760" cy="274320"/>
          </a:xfrm>
          <a:prstGeom prst="rect">
            <a:avLst/>
          </a:prstGeom>
          <a:noFill/>
        </p:spPr>
        <p:txBody>
          <a:bodyPr wrap="square">
            <a:spAutoFit/>
          </a:bodyPr>
          <a:lstStyle/>
          <a:p>
            <a:pPr algn="l"/>
            <a:r>
              <a:rPr sz="1100" b="0">
                <a:solidFill>
                  <a:srgbClr val="3C3C3C"/>
                </a:solidFill>
                <a:latin typeface="Consolas"/>
              </a:rPr>
              <a:t>Param MAE (masked tokens)</a:t>
            </a:r>
          </a:p>
        </p:txBody>
      </p:sp>
      <p:sp>
        <p:nvSpPr>
          <p:cNvPr id="30" name="TextBox 29"/>
          <p:cNvSpPr txBox="1"/>
          <p:nvPr/>
        </p:nvSpPr>
        <p:spPr>
          <a:xfrm>
            <a:off x="10424160" y="4572000"/>
            <a:ext cx="1554480" cy="274320"/>
          </a:xfrm>
          <a:prstGeom prst="rect">
            <a:avLst/>
          </a:prstGeom>
          <a:noFill/>
        </p:spPr>
        <p:txBody>
          <a:bodyPr wrap="square">
            <a:spAutoFit/>
          </a:bodyPr>
          <a:lstStyle/>
          <a:p>
            <a:pPr algn="l"/>
            <a:r>
              <a:rPr sz="1100" b="1">
                <a:solidFill>
                  <a:srgbClr val="14285A"/>
                </a:solidFill>
                <a:latin typeface="Consolas"/>
              </a:rPr>
              <a:t>0.001025  0.001052</a:t>
            </a:r>
          </a:p>
        </p:txBody>
      </p:sp>
      <p:sp>
        <p:nvSpPr>
          <p:cNvPr id="31" name="TextBox 30"/>
          <p:cNvSpPr txBox="1"/>
          <p:nvPr/>
        </p:nvSpPr>
        <p:spPr>
          <a:xfrm>
            <a:off x="7772400" y="4846320"/>
            <a:ext cx="2651760" cy="274320"/>
          </a:xfrm>
          <a:prstGeom prst="rect">
            <a:avLst/>
          </a:prstGeom>
          <a:noFill/>
        </p:spPr>
        <p:txBody>
          <a:bodyPr wrap="square">
            <a:spAutoFit/>
          </a:bodyPr>
          <a:lstStyle/>
          <a:p>
            <a:pPr algn="l"/>
            <a:r>
              <a:rPr sz="1100" b="0">
                <a:solidFill>
                  <a:srgbClr val="3C3C3C"/>
                </a:solidFill>
                <a:latin typeface="Consolas"/>
              </a:rPr>
              <a:t>Param acc @ |err| &lt; 0.05</a:t>
            </a:r>
          </a:p>
        </p:txBody>
      </p:sp>
      <p:sp>
        <p:nvSpPr>
          <p:cNvPr id="32" name="TextBox 31"/>
          <p:cNvSpPr txBox="1"/>
          <p:nvPr/>
        </p:nvSpPr>
        <p:spPr>
          <a:xfrm>
            <a:off x="10424160" y="4846320"/>
            <a:ext cx="1554480" cy="274320"/>
          </a:xfrm>
          <a:prstGeom prst="rect">
            <a:avLst/>
          </a:prstGeom>
          <a:noFill/>
        </p:spPr>
        <p:txBody>
          <a:bodyPr wrap="square">
            <a:spAutoFit/>
          </a:bodyPr>
          <a:lstStyle/>
          <a:p>
            <a:pPr algn="l"/>
            <a:r>
              <a:rPr sz="1100" b="1">
                <a:solidFill>
                  <a:srgbClr val="14285A"/>
                </a:solidFill>
                <a:latin typeface="Consolas"/>
              </a:rPr>
              <a:t>100.0 %     100.0 %</a:t>
            </a:r>
          </a:p>
        </p:txBody>
      </p:sp>
      <p:sp>
        <p:nvSpPr>
          <p:cNvPr id="33" name="TextBox 32"/>
          <p:cNvSpPr txBox="1"/>
          <p:nvPr/>
        </p:nvSpPr>
        <p:spPr>
          <a:xfrm>
            <a:off x="7772400" y="5120640"/>
            <a:ext cx="2651760" cy="274320"/>
          </a:xfrm>
          <a:prstGeom prst="rect">
            <a:avLst/>
          </a:prstGeom>
          <a:noFill/>
        </p:spPr>
        <p:txBody>
          <a:bodyPr wrap="square">
            <a:spAutoFit/>
          </a:bodyPr>
          <a:lstStyle/>
          <a:p>
            <a:pPr algn="l"/>
            <a:r>
              <a:rPr sz="1100" b="0">
                <a:solidFill>
                  <a:srgbClr val="3C3C3C"/>
                </a:solidFill>
                <a:latin typeface="Consolas"/>
              </a:rPr>
              <a:t>—</a:t>
            </a:r>
          </a:p>
        </p:txBody>
      </p:sp>
      <p:sp>
        <p:nvSpPr>
          <p:cNvPr id="34" name="TextBox 33"/>
          <p:cNvSpPr txBox="1"/>
          <p:nvPr/>
        </p:nvSpPr>
        <p:spPr>
          <a:xfrm>
            <a:off x="10424160" y="5120640"/>
            <a:ext cx="1554480" cy="274320"/>
          </a:xfrm>
          <a:prstGeom prst="rect">
            <a:avLst/>
          </a:prstGeom>
          <a:noFill/>
        </p:spPr>
        <p:txBody>
          <a:bodyPr wrap="square">
            <a:spAutoFit/>
          </a:bodyPr>
          <a:lstStyle/>
          <a:p>
            <a:pPr algn="l"/>
            <a:r>
              <a:rPr sz="1100" b="1">
                <a:solidFill>
                  <a:srgbClr val="14285A"/>
                </a:solidFill>
                <a:latin typeface="Consolas"/>
              </a:rPr>
              <a:t>—</a:t>
            </a:r>
          </a:p>
        </p:txBody>
      </p:sp>
      <p:sp>
        <p:nvSpPr>
          <p:cNvPr id="35" name="TextBox 34"/>
          <p:cNvSpPr txBox="1"/>
          <p:nvPr/>
        </p:nvSpPr>
        <p:spPr>
          <a:xfrm>
            <a:off x="7772400" y="5394960"/>
            <a:ext cx="2651760" cy="274320"/>
          </a:xfrm>
          <a:prstGeom prst="rect">
            <a:avLst/>
          </a:prstGeom>
          <a:noFill/>
        </p:spPr>
        <p:txBody>
          <a:bodyPr wrap="square">
            <a:spAutoFit/>
          </a:bodyPr>
          <a:lstStyle/>
          <a:p>
            <a:pPr algn="l"/>
            <a:r>
              <a:rPr sz="1100" b="0">
                <a:solidFill>
                  <a:srgbClr val="3C3C3C"/>
                </a:solidFill>
                <a:latin typeface="Consolas"/>
              </a:rPr>
              <a:t>Run state</a:t>
            </a:r>
          </a:p>
        </p:txBody>
      </p:sp>
      <p:sp>
        <p:nvSpPr>
          <p:cNvPr id="36" name="TextBox 35"/>
          <p:cNvSpPr txBox="1"/>
          <p:nvPr/>
        </p:nvSpPr>
        <p:spPr>
          <a:xfrm>
            <a:off x="10424160" y="5394960"/>
            <a:ext cx="1554480" cy="274320"/>
          </a:xfrm>
          <a:prstGeom prst="rect">
            <a:avLst/>
          </a:prstGeom>
          <a:noFill/>
        </p:spPr>
        <p:txBody>
          <a:bodyPr wrap="square">
            <a:spAutoFit/>
          </a:bodyPr>
          <a:lstStyle/>
          <a:p>
            <a:pPr algn="l"/>
            <a:r>
              <a:rPr sz="1100" b="1">
                <a:solidFill>
                  <a:srgbClr val="14285A"/>
                </a:solidFill>
                <a:latin typeface="Consolas"/>
              </a:rPr>
              <a:t>COMPLETED ✓</a:t>
            </a:r>
          </a:p>
        </p:txBody>
      </p:sp>
      <p:sp>
        <p:nvSpPr>
          <p:cNvPr id="37" name="TextBox 36"/>
          <p:cNvSpPr txBox="1"/>
          <p:nvPr/>
        </p:nvSpPr>
        <p:spPr>
          <a:xfrm>
            <a:off x="7772400" y="5669280"/>
            <a:ext cx="2651760" cy="274320"/>
          </a:xfrm>
          <a:prstGeom prst="rect">
            <a:avLst/>
          </a:prstGeom>
          <a:noFill/>
        </p:spPr>
        <p:txBody>
          <a:bodyPr wrap="square">
            <a:spAutoFit/>
          </a:bodyPr>
          <a:lstStyle/>
          <a:p>
            <a:pPr algn="l"/>
            <a:r>
              <a:rPr sz="1100" b="0">
                <a:solidFill>
                  <a:srgbClr val="3C3C3C"/>
                </a:solidFill>
                <a:latin typeface="Consolas"/>
              </a:rPr>
              <a:t>Total epochs</a:t>
            </a:r>
          </a:p>
        </p:txBody>
      </p:sp>
      <p:sp>
        <p:nvSpPr>
          <p:cNvPr id="38" name="TextBox 37"/>
          <p:cNvSpPr txBox="1"/>
          <p:nvPr/>
        </p:nvSpPr>
        <p:spPr>
          <a:xfrm>
            <a:off x="10424160" y="5669280"/>
            <a:ext cx="1554480" cy="274320"/>
          </a:xfrm>
          <a:prstGeom prst="rect">
            <a:avLst/>
          </a:prstGeom>
          <a:noFill/>
        </p:spPr>
        <p:txBody>
          <a:bodyPr wrap="square">
            <a:spAutoFit/>
          </a:bodyPr>
          <a:lstStyle/>
          <a:p>
            <a:pPr algn="l"/>
            <a:r>
              <a:rPr sz="1100" b="1">
                <a:solidFill>
                  <a:srgbClr val="14285A"/>
                </a:solidFill>
                <a:latin typeface="Consolas"/>
              </a:rPr>
              <a:t>2400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